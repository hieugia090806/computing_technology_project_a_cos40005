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07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054C96-F8C5-0780-D1BA-87CF4083D6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413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VN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85000" y="1651000"/>
            <a:ext cx="5207000" cy="5207000"/>
          </a:xfrm>
          <a:prstGeom prst="rect">
            <a:avLst/>
          </a:prstGeom>
        </p:spPr>
      </p:pic>
      <p:pic>
        <p:nvPicPr>
          <p:cNvPr id="3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85400" y="5054600"/>
            <a:ext cx="1397000" cy="1397000"/>
          </a:xfrm>
          <a:prstGeom prst="rect">
            <a:avLst/>
          </a:prstGeom>
        </p:spPr>
      </p:pic>
      <p:pic>
        <p:nvPicPr>
          <p:cNvPr id="4" name="Image 2" descr="Swinburne University of Technology, alliance with FPT Education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812800" y="812800"/>
            <a:ext cx="1397000" cy="11303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2800" y="29706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SCIENCE — CAPSTONE PROJECT A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12800" y="3336330"/>
            <a:ext cx="10137775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Semester Project List</a:t>
            </a:r>
            <a:endParaRPr lang="en-US" sz="5600" dirty="0"/>
          </a:p>
        </p:txBody>
      </p:sp>
      <p:sp>
        <p:nvSpPr>
          <p:cNvPr id="7" name="Text 2"/>
          <p:cNvSpPr/>
          <p:nvPr/>
        </p:nvSpPr>
        <p:spPr>
          <a:xfrm>
            <a:off x="812800" y="4235450"/>
            <a:ext cx="752157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Industry-mentored and research-track capstone projects for Project A, September 2026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12800" y="5831880"/>
            <a:ext cx="5810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 the Academic Experience Office · Department of Computer Science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353550" y="5831880"/>
            <a:ext cx="20864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COS40005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paths, one semester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790005"/>
            <a:ext cx="5124450" cy="404882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174750" y="2148780"/>
            <a:ext cx="4539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4750" y="248910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Industry Projects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4750" y="2920901"/>
            <a:ext cx="45391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partner organisations brief and mentor student teams on real business problems.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4750" y="3510161"/>
            <a:ext cx="4539107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FCAJ — VIB and Katalon assignments; Cloud Kinetics</a:t>
            </a:r>
            <a:endParaRPr lang="en-US" sz="1300" dirty="0"/>
          </a:p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Huawei CBG — AI FitWear platform</a:t>
            </a:r>
            <a:endParaRPr lang="en-US" sz="1300" dirty="0"/>
          </a:p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ISC2 Vietnam Chapter — five AI-security R&amp;D topics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1575" y="1790005"/>
            <a:ext cx="5124450" cy="404882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610350" y="2148780"/>
            <a:ext cx="4539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0350" y="248910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Research Projects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10350" y="2920901"/>
            <a:ext cx="45391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majors, twenty-five faculty-authored topics, under two academic supervisors.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0350" y="3510161"/>
            <a:ext cx="4539107" cy="1560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Software, Data Science, AI, AIoT, Cybersecurity — 5 topics each</a:t>
            </a:r>
            <a:endParaRPr lang="en-US" sz="1300" dirty="0"/>
          </a:p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Supervisors: Dr. Dang Tran Khanh &amp; Dr. Nguyen Xuan Sam</a:t>
            </a:r>
            <a:endParaRPr lang="en-US" sz="1300" dirty="0"/>
          </a:p>
          <a:p>
            <a:pPr marL="342900" indent="-342900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Shared Distinction / High Distinction evidence guidance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9825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A · September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A — COS40005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the unit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736030"/>
            <a:ext cx="52585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Assessment &amp; timeline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91630"/>
          <a:ext cx="5105400" cy="1996083"/>
        </p:xfrm>
        <a:graphic>
          <a:graphicData uri="http://schemas.openxmlformats.org/drawingml/2006/table">
            <a:tbl>
              <a:tblPr/>
              <a:tblGrid>
                <a:gridCol w="2246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Assessment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Weight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Worklog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Weekly, weeks 1–12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Research Report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week 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&amp; Project Plan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week 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Sprint Reports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Weeks 6, 9 and 12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Video Presentation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week 13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3800" y="1736030"/>
            <a:ext cx="52585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Delivery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73800" y="2091630"/>
            <a:ext cx="5258562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team has a staff facilitator who meets weekly across all 12 teaching weeks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Hurdle requirement: an overall mark of 50% or more, and the project completed to an acceptable standard against the rubric — otherwise the unit mark is capped at 45%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Assessments are completed without genAI assistance, per unit policy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A carries into Project B (COS40006): quality assurance, handover and the final pitch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9825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A ·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61367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Industry Projects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43659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partner organisations brief and mentor Project A teams this semester.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5311775"/>
            <a:ext cx="1111250" cy="730250"/>
          </a:xfrm>
          <a:prstGeom prst="roundRect">
            <a:avLst>
              <a:gd name="adj" fmla="val 1347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6" name="Image 0" descr="AWS"/>
          <p:cNvPicPr>
            <a:picLocks noChangeAspect="1"/>
          </p:cNvPicPr>
          <p:nvPr/>
        </p:nvPicPr>
        <p:blipFill>
          <a:blip r:embed="rId3"/>
          <a:srcRect t="-435" b="-435"/>
          <a:stretch/>
        </p:blipFill>
        <p:spPr>
          <a:xfrm>
            <a:off x="1066800" y="5492750"/>
            <a:ext cx="609600" cy="368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36775" y="5311775"/>
            <a:ext cx="1111250" cy="730250"/>
          </a:xfrm>
          <a:prstGeom prst="roundRect">
            <a:avLst>
              <a:gd name="adj" fmla="val 1347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8" name="Image 1" descr="Huawei"/>
          <p:cNvPicPr>
            <a:picLocks noChangeAspect="1"/>
          </p:cNvPicPr>
          <p:nvPr/>
        </p:nvPicPr>
        <p:blipFill>
          <a:blip r:embed="rId4"/>
          <a:srcRect t="-204" b="-204"/>
          <a:stretch/>
        </p:blipFill>
        <p:spPr>
          <a:xfrm>
            <a:off x="2406650" y="5384800"/>
            <a:ext cx="571500" cy="584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57575" y="5311775"/>
            <a:ext cx="1390650" cy="730250"/>
          </a:xfrm>
          <a:prstGeom prst="roundRect">
            <a:avLst>
              <a:gd name="adj" fmla="val 1347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10" name="Image 2" descr="ISC2 Vietnam Chapter"/>
          <p:cNvPicPr>
            <a:picLocks noChangeAspect="1"/>
          </p:cNvPicPr>
          <p:nvPr/>
        </p:nvPicPr>
        <p:blipFill>
          <a:blip r:embed="rId5"/>
          <a:srcRect l="-15" r="-15"/>
          <a:stretch/>
        </p:blipFill>
        <p:spPr>
          <a:xfrm>
            <a:off x="3594100" y="5454650"/>
            <a:ext cx="11176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AWS FCAJ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AWS First Cloud AI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partnership between Swinburne Vietnam and the AWS FCAJ program (program lead: Mr. Lữ Thiện), bringing AWS-hosted engineering problems to Project A teams through partner organisations.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6" name="Image 0" descr="AWS"/>
          <p:cNvPicPr>
            <a:picLocks noChangeAspect="1"/>
          </p:cNvPicPr>
          <p:nvPr/>
        </p:nvPicPr>
        <p:blipFill>
          <a:blip r:embed="rId3"/>
          <a:srcRect l="-312" r="-312"/>
          <a:stretch/>
        </p:blipFill>
        <p:spPr>
          <a:xfrm>
            <a:off x="1022350" y="2456061"/>
            <a:ext cx="533400" cy="317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208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8" name="Image 1" descr="VIB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2119784" y="2431900"/>
            <a:ext cx="560040" cy="2705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257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10" name="Image 2" descr="ITR / ITRV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89300" y="2405261"/>
            <a:ext cx="419100" cy="4191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306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12" name="Image 3" descr="Cloud Kinetic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3722" y="2354783"/>
            <a:ext cx="520055" cy="52005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15975" y="3176786"/>
            <a:ext cx="1944340" cy="2662039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8"/>
          <p:cNvSpPr/>
          <p:nvPr/>
        </p:nvSpPr>
        <p:spPr>
          <a:xfrm>
            <a:off x="134362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4" descr="Thuận Phát"/>
          <p:cNvPicPr>
            <a:picLocks noChangeAspect="1"/>
          </p:cNvPicPr>
          <p:nvPr/>
        </p:nvPicPr>
        <p:blipFill>
          <a:blip r:embed="rId7"/>
          <a:srcRect t="12667" b="12667"/>
          <a:stretch/>
        </p:blipFill>
        <p:spPr>
          <a:xfrm>
            <a:off x="1343620" y="3383161"/>
            <a:ext cx="889000" cy="889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52848" y="4348361"/>
            <a:ext cx="8705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Thuận Phát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996950" y="4622651"/>
            <a:ext cx="1582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Solution Architect, VIB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2969865" y="3176786"/>
            <a:ext cx="1944390" cy="2662039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4"/>
          <p:cNvSpPr/>
          <p:nvPr/>
        </p:nvSpPr>
        <p:spPr>
          <a:xfrm>
            <a:off x="349756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22" name="Image 5" descr="Tran Huu Nghia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497560" y="3383161"/>
            <a:ext cx="889000" cy="889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70312" y="4348361"/>
            <a:ext cx="114344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 Huu Nghia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150840" y="4622651"/>
            <a:ext cx="1582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Agentic AI Solutions Architect, VIB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123805" y="3176786"/>
            <a:ext cx="1944340" cy="2662039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Shape 20"/>
          <p:cNvSpPr/>
          <p:nvPr/>
        </p:nvSpPr>
        <p:spPr>
          <a:xfrm>
            <a:off x="565145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29" name="Image 6" descr="Lê Minh Nghĩa"/>
          <p:cNvPicPr>
            <a:picLocks noChangeAspect="1"/>
          </p:cNvPicPr>
          <p:nvPr/>
        </p:nvPicPr>
        <p:blipFill>
          <a:blip r:embed="rId9"/>
          <a:srcRect t="948" b="948"/>
          <a:stretch/>
        </p:blipFill>
        <p:spPr>
          <a:xfrm>
            <a:off x="5651450" y="3383161"/>
            <a:ext cx="889000" cy="8890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68652" y="4348361"/>
            <a:ext cx="105464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Lê Minh Nghĩa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304780" y="4622651"/>
            <a:ext cx="1582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Engineer, ITRVN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7277695" y="3176786"/>
            <a:ext cx="1944390" cy="2662039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Shape 26"/>
          <p:cNvSpPr/>
          <p:nvPr/>
        </p:nvSpPr>
        <p:spPr>
          <a:xfrm>
            <a:off x="780539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36" name="Image 7" descr="Aiden Dinh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5390" y="3383161"/>
            <a:ext cx="889000" cy="8890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835900" y="4348361"/>
            <a:ext cx="82793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Aiden Dinh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7458670" y="4622651"/>
            <a:ext cx="1582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Operations Engineer, Katalon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9431635" y="3176786"/>
            <a:ext cx="1944390" cy="2662039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Shape 32"/>
          <p:cNvSpPr/>
          <p:nvPr/>
        </p:nvSpPr>
        <p:spPr>
          <a:xfrm>
            <a:off x="995933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43" name="Image 8" descr="Khang Nguyen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59330" y="3383161"/>
            <a:ext cx="889000" cy="8890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859566" y="4348361"/>
            <a:ext cx="108847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Khang Nguyen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9612610" y="4622651"/>
            <a:ext cx="1582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Solutions Architect, Cloud Kinetics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12800" y="6238280"/>
            <a:ext cx="2048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AWS FCAJ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FCAJ — VIB ASSIGNMENTS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VIB assignments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Mentor: Thuận Phát — Cloud Solution Architect, VIB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064296"/>
            <a:ext cx="3380284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073150" y="2321471"/>
            <a:ext cx="295191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VIB 1: Internal Assistant for Enterprise Knowledge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2867571"/>
            <a:ext cx="2951912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Slack-integrated chatbot that answers employee questions from scattered internal sources (Confluence, document sites, forums), with an ingestion pipeline and access control.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809" y="2064296"/>
            <a:ext cx="3380333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4662984" y="2321471"/>
            <a:ext cx="295196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VIB 2: Consistent AI-Generated Output for Internal Documents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2984" y="2867571"/>
            <a:ext cx="295196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mechanism that keeps AI-drafted reports and BRDs compliant with internal rules, policies and templates, reducing rework passed between teams.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5692" y="2064296"/>
            <a:ext cx="3380333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252867" y="2321471"/>
            <a:ext cx="295196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VIB 3: Coordinated Slack AI Agents Across Departments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2867" y="2867571"/>
            <a:ext cx="295196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Domain-specific Slack agents (e.g. Developer, CloudOps) that can request information from one another without exposing data outside their access scope.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048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AWS FCAJ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FCAJ — KATALON ASSIGNMENTS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Katalon assignments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Mentor: Lê Minh Nghĩa — Cloud Engineer, ITRVN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064296"/>
            <a:ext cx="3380284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1073150" y="2321471"/>
            <a:ext cx="880517" cy="289520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1200150" y="2359571"/>
            <a:ext cx="67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150" y="2712591"/>
            <a:ext cx="295191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Katalon 1: Customer Support Email Campaign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3150" y="3258691"/>
            <a:ext cx="295191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email campaign platform on Amazon Connect and Amazon SES, with dynamic templates, segmentation, scheduling and resilient bulk sending.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5809" y="2064296"/>
            <a:ext cx="3380333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4662984" y="2321471"/>
            <a:ext cx="628303" cy="289520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4789984" y="2359571"/>
            <a:ext cx="4251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2984" y="2712591"/>
            <a:ext cx="295196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Katalon 2: Amazon EKS Windows Containers for Test Automation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2984" y="3258691"/>
            <a:ext cx="295196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workloads on Amazon EKS with per-user containers created and torn down on demand in under a minute, with strict tenant isolation.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5692" y="2064296"/>
            <a:ext cx="3380333" cy="377452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252867" y="2321471"/>
            <a:ext cx="593874" cy="289520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8379867" y="2359571"/>
            <a:ext cx="3906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52867" y="2712591"/>
            <a:ext cx="295196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Katalon 3: Secure CI/CD Pipeline Deployment to Amazon EC2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52867" y="3258691"/>
            <a:ext cx="295196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CI/CD pipeline that builds, tests and deploys to EC2 on every commit, with zero/minimal downtime, automatic rollback and no public SSH access.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048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AWS FCAJ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FCAJ — CLOUD KINETICS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briefs pending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790005"/>
            <a:ext cx="3490367" cy="1865561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2116634" y="199638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6" name="Image 0" descr="Khang Nguye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16634" y="1996380"/>
            <a:ext cx="889000" cy="88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6919" y="2961580"/>
            <a:ext cx="108847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Khang Nguyen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0584" y="3235871"/>
            <a:ext cx="2481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Solutions Architect, Cloud Kinetics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4317" y="1786830"/>
            <a:ext cx="6764883" cy="1724620"/>
          </a:xfrm>
          <a:prstGeom prst="roundRect">
            <a:avLst>
              <a:gd name="adj" fmla="val 7364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7"/>
          <p:cNvSpPr/>
          <p:nvPr/>
        </p:nvSpPr>
        <p:spPr>
          <a:xfrm>
            <a:off x="4919117" y="2091630"/>
            <a:ext cx="6339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STATUS: TO BE CONFIRMED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19117" y="2406551"/>
            <a:ext cx="633994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Kinetics has not yet submitted project briefs for this semester. Topics and scope are still to be confirmed with AWS FCAJ before teams can be briefed.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20486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AWS FCAJ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19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HUAWEI CBG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Huawei Consumer Business Group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partnership between Swinburne Vietnam and Huawei's Consumer Business Group, bringing the AI FitWear brief to Project A teams through Huawei's Vietnam and Cloud APAC teams.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6" name="Image 0" descr="Huawei"/>
          <p:cNvPicPr>
            <a:picLocks noChangeAspect="1"/>
          </p:cNvPicPr>
          <p:nvPr/>
        </p:nvPicPr>
        <p:blipFill>
          <a:blip r:embed="rId3"/>
          <a:srcRect t="-341" b="-341"/>
          <a:stretch/>
        </p:blipFill>
        <p:spPr>
          <a:xfrm>
            <a:off x="1035050" y="2354461"/>
            <a:ext cx="508000" cy="520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975" y="3176786"/>
            <a:ext cx="2406650" cy="2662039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5"/>
          <p:cNvSpPr/>
          <p:nvPr/>
        </p:nvSpPr>
        <p:spPr>
          <a:xfrm>
            <a:off x="157480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9" name="Image 1" descr="Linh Ngô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74800" y="3383161"/>
            <a:ext cx="889000" cy="88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73920" y="4348361"/>
            <a:ext cx="69076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Linh Ngô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92442" y="4622651"/>
            <a:ext cx="205371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 Manager, Huawei Vietnam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22350" y="5125492"/>
            <a:ext cx="1993900" cy="502841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9"/>
          <p:cNvSpPr/>
          <p:nvPr/>
        </p:nvSpPr>
        <p:spPr>
          <a:xfrm>
            <a:off x="1136650" y="5163592"/>
            <a:ext cx="18182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owner &amp; mentor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32175" y="3176786"/>
            <a:ext cx="2406650" cy="2662039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1"/>
          <p:cNvSpPr/>
          <p:nvPr/>
        </p:nvSpPr>
        <p:spPr>
          <a:xfrm>
            <a:off x="419100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6" name="Image 2" descr="Khyhoong"/>
          <p:cNvPicPr>
            <a:picLocks noChangeAspect="1"/>
          </p:cNvPicPr>
          <p:nvPr/>
        </p:nvPicPr>
        <p:blipFill>
          <a:blip r:embed="rId5"/>
          <a:srcRect l="27250" r="27250"/>
          <a:stretch/>
        </p:blipFill>
        <p:spPr>
          <a:xfrm>
            <a:off x="4191000" y="3383161"/>
            <a:ext cx="889000" cy="889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48497" y="4348361"/>
            <a:ext cx="7739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Khyhoong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08642" y="4622651"/>
            <a:ext cx="205371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Technical Support, Huawei Cloud APAC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38550" y="5125492"/>
            <a:ext cx="1993900" cy="502841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5"/>
          <p:cNvSpPr/>
          <p:nvPr/>
        </p:nvSpPr>
        <p:spPr>
          <a:xfrm>
            <a:off x="3752850" y="5163592"/>
            <a:ext cx="18182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owner &amp; mentor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12800" y="6238280"/>
            <a:ext cx="2260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Huawei CBG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982722" y="6238280"/>
            <a:ext cx="447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HUAWEI CBG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FitWear: Smart Fitness &amp; Watch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Addressing manual fitness logging and the lack of real-time form guidance for beginner gym-goers, through dual-device AI automation.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62386"/>
            <a:ext cx="5175250" cy="3576439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073150" y="2519561"/>
            <a:ext cx="48007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Pain 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2875161"/>
            <a:ext cx="4800727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food tracking is tedious, causing drop-off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Beginners get no in-workout guidance without a personal trainer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apps and smartwatches rarely sync in real 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00775" y="2262386"/>
            <a:ext cx="5175250" cy="3576439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6457950" y="2519561"/>
            <a:ext cx="48007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57950" y="2875161"/>
            <a:ext cx="4800727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Multi-modal meal AI: instant photo-based calorie and macro analysis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Wrist-based assistant: automated rep detection and haptic rest control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closed loop between mobile (central brain) and watch (sensor agent)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260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Huawei CBG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19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HUAWEI CBG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Deliverables, stack and mentors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710630"/>
            <a:ext cx="60332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Expected deliverables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50951"/>
            <a:ext cx="603320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 (iOS/Android): AI food recognition, macro breakdown, automated workout planner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app (HarmonyOS, ArkTS): live dashboard, IMU rep counting, haptic rest alerts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Bi-directional sync engine over BLE / WebSockets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Documentation and a validation report on recognition accuracy and motion precision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778151"/>
            <a:ext cx="603320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Stack: ArkTS + Huawei DevEco Studio for the watch app; mobile framework at the team's discretion; vision via GPT-4o Vision / Gemini Flash or a fine-tuned YOLO/MobileNet model.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73478" y="1710630"/>
            <a:ext cx="4640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76653" y="2054126"/>
            <a:ext cx="2170311" cy="3784699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7517309" y="226050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0" descr="Linh Ngô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7309" y="2260501"/>
            <a:ext cx="889000" cy="88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16428" y="3225701"/>
            <a:ext cx="69076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Linh Ngô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56665" y="3499991"/>
            <a:ext cx="18102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 Manager, Huawei Vietnam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05714" y="2054126"/>
            <a:ext cx="2170311" cy="3784699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1"/>
          <p:cNvSpPr/>
          <p:nvPr/>
        </p:nvSpPr>
        <p:spPr>
          <a:xfrm>
            <a:off x="9846370" y="226050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1" descr="Khyhoong"/>
          <p:cNvPicPr>
            <a:picLocks noChangeAspect="1"/>
          </p:cNvPicPr>
          <p:nvPr/>
        </p:nvPicPr>
        <p:blipFill>
          <a:blip r:embed="rId4"/>
          <a:srcRect l="27250" r="27250"/>
          <a:stretch/>
        </p:blipFill>
        <p:spPr>
          <a:xfrm>
            <a:off x="9846370" y="2260501"/>
            <a:ext cx="889000" cy="88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03867" y="3225701"/>
            <a:ext cx="7739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Khyhoong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385726" y="3499991"/>
            <a:ext cx="18102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Technical Support, Huawei Cloud APAC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2260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Huawei CBG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19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ISC2 VIETNAM CHAPTER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ISC2 Vietnam Chapter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partnership between Swinburne Vietnam and the ISC2 Vietnam Chapter, bringing five AI-security R&amp;D topics to Project A teams under a single mentor.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287786"/>
            <a:ext cx="946150" cy="654050"/>
          </a:xfrm>
          <a:prstGeom prst="roundRect">
            <a:avLst>
              <a:gd name="adj" fmla="val 15049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6" name="Image 0" descr="ISC2 Vietnam Chapter"/>
          <p:cNvPicPr>
            <a:picLocks noChangeAspect="1"/>
          </p:cNvPicPr>
          <p:nvPr/>
        </p:nvPicPr>
        <p:blipFill>
          <a:blip r:embed="rId3"/>
          <a:srcRect t="-270" b="-270"/>
          <a:stretch/>
        </p:blipFill>
        <p:spPr>
          <a:xfrm>
            <a:off x="876300" y="2449711"/>
            <a:ext cx="825500" cy="33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975" y="3176786"/>
            <a:ext cx="2406650" cy="2662039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5"/>
          <p:cNvSpPr/>
          <p:nvPr/>
        </p:nvSpPr>
        <p:spPr>
          <a:xfrm>
            <a:off x="1574800" y="338316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9" name="Image 1" descr="Robert Leyba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74800" y="3383161"/>
            <a:ext cx="889000" cy="88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671" y="4348361"/>
            <a:ext cx="10212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Robert Leyba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88147" y="4622651"/>
            <a:ext cx="18623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VP, ISC2 Vietnam Chapter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67842" y="4912171"/>
            <a:ext cx="1902916" cy="289520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9"/>
          <p:cNvSpPr/>
          <p:nvPr/>
        </p:nvSpPr>
        <p:spPr>
          <a:xfrm>
            <a:off x="1182142" y="4950271"/>
            <a:ext cx="1725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Mentor for all 5 topics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80"/>
            <a:ext cx="2949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ISC2 Vietnam Chapter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19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96600" y="6342360"/>
            <a:ext cx="75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173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836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— ISC2 VIETNAM CHAPTER</a:t>
            </a:r>
            <a:endParaRPr lang="en-US" sz="836" dirty="0"/>
          </a:p>
        </p:txBody>
      </p:sp>
      <p:sp>
        <p:nvSpPr>
          <p:cNvPr id="4" name="Text 2"/>
          <p:cNvSpPr/>
          <p:nvPr/>
        </p:nvSpPr>
        <p:spPr>
          <a:xfrm>
            <a:off x="812800" y="1036786"/>
            <a:ext cx="10883392" cy="288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804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&amp; Cybersecurity R&amp;D Portfolio</a:t>
            </a:r>
            <a:endParaRPr lang="en-US" sz="1804" dirty="0"/>
          </a:p>
        </p:txBody>
      </p:sp>
      <p:sp>
        <p:nvSpPr>
          <p:cNvPr id="5" name="Text 3"/>
          <p:cNvSpPr/>
          <p:nvPr/>
        </p:nvSpPr>
        <p:spPr>
          <a:xfrm>
            <a:off x="812800" y="1376015"/>
            <a:ext cx="9156700" cy="37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89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proposed research directions spanning security operations, LLM application security, agentic AI, malware analysis and AI governance.</a:t>
            </a:r>
            <a:endParaRPr lang="en-US" sz="1089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24050"/>
          <a:ext cx="10566400" cy="2849364"/>
        </p:xfrm>
        <a:graphic>
          <a:graphicData uri="http://schemas.openxmlformats.org/drawingml/2006/table">
            <a:tbl>
              <a:tblPr/>
              <a:tblGrid>
                <a:gridCol w="63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Topic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Research focus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0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Human-AI Collaboration for Cybersecurity Incident Investigation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Whether AI improves analyst speed and accuracy without unacceptable error or over-reliance.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0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Security Testing and Evaluation of LLM-Enabled Applications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repeatable security-evaluation framework for prompt injection, data exposure and unsafe output.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0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Security Validation for Agentic AI and Tool-Using Systems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How permissions, tool use and autonomy can create or amplify security risk.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0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Human-AI Malware Triage and Threat Analysis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Whether AI can speed up malware triage while preserving evidence quality and explainability.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From AI Policy to Measurable Security Controls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2565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Translating AI governance requirements into testable controls and assurance metrics.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4941193"/>
            <a:ext cx="1889968" cy="1913632"/>
          </a:xfrm>
          <a:prstGeom prst="roundRect">
            <a:avLst>
              <a:gd name="adj" fmla="val 655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5"/>
          <p:cNvSpPr/>
          <p:nvPr/>
        </p:nvSpPr>
        <p:spPr>
          <a:xfrm>
            <a:off x="1316434" y="5147568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9" name="Image 0" descr="Robert Leyb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6434" y="5147568"/>
            <a:ext cx="889000" cy="88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4672" y="6112768"/>
            <a:ext cx="11525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24"/>
              </a:lnSpc>
              <a:buNone/>
            </a:pPr>
            <a:r>
              <a:rPr lang="en-US" sz="731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VP, ISC2 Vietnam Chapter</a:t>
            </a:r>
            <a:endParaRPr lang="en-US" sz="731" dirty="0"/>
          </a:p>
        </p:txBody>
      </p:sp>
      <p:sp>
        <p:nvSpPr>
          <p:cNvPr id="11" name="Text 7"/>
          <p:cNvSpPr/>
          <p:nvPr/>
        </p:nvSpPr>
        <p:spPr>
          <a:xfrm>
            <a:off x="1444377" y="6313587"/>
            <a:ext cx="633115" cy="83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36"/>
              </a:lnSpc>
              <a:buNone/>
            </a:pPr>
            <a:r>
              <a:rPr lang="en-US" sz="78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Robert Leyba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1136501" y="6447631"/>
            <a:ext cx="1248916" cy="200819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9"/>
          <p:cNvSpPr/>
          <p:nvPr/>
        </p:nvSpPr>
        <p:spPr>
          <a:xfrm>
            <a:off x="1250801" y="6485731"/>
            <a:ext cx="107111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Mentor for all 5 topics</a:t>
            </a:r>
            <a:endParaRPr lang="en-US" sz="731" dirty="0"/>
          </a:p>
        </p:txBody>
      </p:sp>
      <p:sp>
        <p:nvSpPr>
          <p:cNvPr id="14" name="Text 10"/>
          <p:cNvSpPr/>
          <p:nvPr/>
        </p:nvSpPr>
        <p:spPr>
          <a:xfrm>
            <a:off x="3467100" y="5105400"/>
            <a:ext cx="8149463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topic follows the same two-semester R&amp;D lifecycle — research, prototype, experimentation, evaluation, final delivery — spanning Project A and Project B.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509818" y="634236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Projects · ISC2 Vietnam Chapter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0572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Research Projects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32864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majors, twenty-five faculty-authored topics, under two academic supervisors.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5095875"/>
            <a:ext cx="1390650" cy="946150"/>
          </a:xfrm>
          <a:prstGeom prst="roundRect">
            <a:avLst>
              <a:gd name="adj" fmla="val 10403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6" name="Image 0" descr="Swinburne Vietnam"/>
          <p:cNvPicPr>
            <a:picLocks noChangeAspect="1"/>
          </p:cNvPicPr>
          <p:nvPr/>
        </p:nvPicPr>
        <p:blipFill>
          <a:blip r:embed="rId3"/>
          <a:srcRect l="-141" r="-141"/>
          <a:stretch/>
        </p:blipFill>
        <p:spPr>
          <a:xfrm>
            <a:off x="1035050" y="5184775"/>
            <a:ext cx="952500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majors, one shared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1567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guidance; final grades follow the approved unit rubric. No automatic grade entitlement.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038896"/>
            <a:ext cx="2005310" cy="824161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453654" y="2194471"/>
            <a:ext cx="7807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43596" y="2494161"/>
            <a:ext cx="600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topics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4635" y="2038896"/>
            <a:ext cx="2005360" cy="824161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3442196" y="2194471"/>
            <a:ext cx="10809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2256" y="2494161"/>
            <a:ext cx="600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topics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93345" y="2038896"/>
            <a:ext cx="2005310" cy="824161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6012954" y="2194471"/>
            <a:ext cx="216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20966" y="2494161"/>
            <a:ext cx="600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topics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32005" y="2038896"/>
            <a:ext cx="2005360" cy="824161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052048" y="2194471"/>
            <a:ext cx="4160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9626" y="2494161"/>
            <a:ext cx="600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topics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70715" y="2038896"/>
            <a:ext cx="2005310" cy="824161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9817894" y="2194471"/>
            <a:ext cx="11617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98336" y="2494161"/>
            <a:ext cx="600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topics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098006"/>
            <a:ext cx="3034903" cy="2740819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1888927" y="330438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22" name="Image 0" descr="Dr. Dang Tran Khanh"/>
          <p:cNvPicPr>
            <a:picLocks noChangeAspect="1"/>
          </p:cNvPicPr>
          <p:nvPr/>
        </p:nvPicPr>
        <p:blipFill>
          <a:blip r:embed="rId3"/>
          <a:srcRect l="3407" r="3407"/>
          <a:stretch/>
        </p:blipFill>
        <p:spPr>
          <a:xfrm>
            <a:off x="1888927" y="3304381"/>
            <a:ext cx="889000" cy="889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82291" y="4269581"/>
            <a:ext cx="15022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Dr. Dang Tran Khanh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3018" y="4543871"/>
            <a:ext cx="27008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Supervisor &amp; Lecturer, Project 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60428" y="3098006"/>
            <a:ext cx="3034953" cy="2740819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Shape 23"/>
          <p:cNvSpPr/>
          <p:nvPr/>
        </p:nvSpPr>
        <p:spPr>
          <a:xfrm>
            <a:off x="5133380" y="3304381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27" name="Image 1" descr="Dr. Nguyen Xuan Sam"/>
          <p:cNvPicPr>
            <a:picLocks noChangeAspect="1"/>
          </p:cNvPicPr>
          <p:nvPr/>
        </p:nvPicPr>
        <p:blipFill>
          <a:blip r:embed="rId4"/>
          <a:srcRect l="5286" r="5286"/>
          <a:stretch/>
        </p:blipFill>
        <p:spPr>
          <a:xfrm>
            <a:off x="5133380" y="3304381"/>
            <a:ext cx="889000" cy="8890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785171" y="4269581"/>
            <a:ext cx="15854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Dr. Nguyen Xuan Sam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227470" y="4543871"/>
            <a:ext cx="27008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Supervisor &amp; Lecturer, Project 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301756" y="3094831"/>
            <a:ext cx="4077444" cy="2747169"/>
          </a:xfrm>
          <a:prstGeom prst="roundRect">
            <a:avLst>
              <a:gd name="adj" fmla="val 4623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1" name="Text 27"/>
          <p:cNvSpPr/>
          <p:nvPr/>
        </p:nvSpPr>
        <p:spPr>
          <a:xfrm>
            <a:off x="7504956" y="3298031"/>
            <a:ext cx="3781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D/HD EVIDENCE AREAS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504956" y="3574852"/>
            <a:ext cx="3781175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Meaningful applied AI · international workshop or conference participation · hackathon, competition or certification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12800" y="6238280"/>
            <a:ext cx="2073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 · Project 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Software &amp; Data Science topics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59830"/>
            <a:ext cx="52847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554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812800" y="1992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SW01 — Industry Project and Capstone Management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249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for proposals, teams, milestones and feedback.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208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812800" y="2646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SW02 — Smart Appointment and Queue Management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2903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Booking app with queue tracking and notifications.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862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12800" y="3300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SW03 — Internship and Employer Engagement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557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Placements, attendance and employer feedback.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516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12800" y="3954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SW04 — Inventory and Order Management for Small Businesses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211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Stock, orders and reporting for a small business.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5170488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812800" y="4608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SW05 — Automated Software Testing and Code Review Assistant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65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Flags risky code changes and suggests tests.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8400" y="1659830"/>
            <a:ext cx="52847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400" y="2554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6248400" y="1992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DS01 — Retail Demand Forecasting and Inventory Planning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8400" y="2249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Forecasting pipeline and replenishment dashboard.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8400" y="3208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248400" y="2646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DS02 — Student Engagement and Academic Support 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48400" y="2903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flagging engagement and support needs.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48400" y="3862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6248400" y="3300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DS03 — Urban Air Quality Analysis and Forecasting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8400" y="3557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Spatial analysis and forecasting of air quality.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48400" y="4516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248400" y="3954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DS04 — Customer Segmentation and Retention 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8400" y="4211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Segmentation, churn model and retention dashboard.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8400" y="5170488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6248400" y="4608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DS05 — Service Demand and Resource Allocation Simulator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48400" y="4865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 forecasts feeding a staffing simulator.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80"/>
            <a:ext cx="2073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 · Project 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19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&amp; AIoT topics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59830"/>
            <a:ext cx="52847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554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812800" y="1992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AI01 — University Document Question-Answering Assistant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249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 assistant with citations over university documents.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43961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812800" y="2646561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AI02 — Vietnamese Sign-Language Recognition for a Defined Vocabulary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13422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Camera-based recognition of a sign vocabulary.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409361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12800" y="353169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AI03 — Visual Product Defect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78822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Inspection app detecting visible product defects.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74761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12800" y="418569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AI04 — Adaptive Learning and Practice Recommendation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44222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practice recommendations from performance.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5401618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812800" y="483969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AI05 — Compact Text Classification for CPU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509622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Compressed text classifier for CPU inference.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8400" y="1659830"/>
            <a:ext cx="52847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400" y="2554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6248400" y="1992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AIOT01 — Smart Classroom Air Quality and Occupancy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8400" y="2249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Sensors, occupancy estimation and ventilation alerts.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8400" y="3208486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248400" y="2646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AIOT02 — Intelligent Irrigation for Small-Scale Agriculture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48400" y="2903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Soil sensing driving an irrigation controller.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48400" y="3862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6248400" y="3300561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AIOT03 — Machine Condition Monitoring and Fault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8400" y="355709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Vibration sensing for edge fault detection.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48400" y="4516487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248400" y="3954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AIOT04 — Edge-Based Waste Classification Prototype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8400" y="4211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Camera-based sorting of waste categories.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8400" y="5170488"/>
            <a:ext cx="5130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6248400" y="4608562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AIOT05 — Cold-Chain Monitoring and Temperature Excursion Prediction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48400" y="48650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cold-chain temperature excursions.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80"/>
            <a:ext cx="2073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 · Project 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19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Cybersecurity topics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59830"/>
            <a:ext cx="5023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1C2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554486"/>
            <a:ext cx="4876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812800" y="1992561"/>
            <a:ext cx="502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CYB01 — SMS and Email Phishing Detection Assistant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249091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Screens SMS/email for phishing, with explanations.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208486"/>
            <a:ext cx="4876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812800" y="2646561"/>
            <a:ext cx="502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CYB02 — Phishing Website Detection and Browser Warning Tool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2903091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analysis with browser phishing warnings.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862487"/>
            <a:ext cx="4876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12800" y="3300561"/>
            <a:ext cx="502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CYB03 — Secure Coding Analysis and Remediation Assistant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557091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repositories and proposes reviewable fixes.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4516487"/>
            <a:ext cx="4876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12800" y="3954562"/>
            <a:ext cx="502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CYB04 — Security Monitoring and Incident Triage Laboratory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211092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 dashboard for detection and incident triage.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5170488"/>
            <a:ext cx="4876800" cy="0"/>
          </a:xfrm>
          <a:prstGeom prst="line">
            <a:avLst/>
          </a:prstGeom>
          <a:noFill/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812800" y="4608562"/>
            <a:ext cx="502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CYB05 — IoT Device Security Assessment and Hardening Toolkit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65092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and hardening toolkit for IoT devices.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94400" y="1659830"/>
            <a:ext cx="5384800" cy="4182170"/>
          </a:xfrm>
          <a:prstGeom prst="roundRect">
            <a:avLst>
              <a:gd name="adj" fmla="val 3037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6248400" y="1913830"/>
            <a:ext cx="50231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D/HD EVIDENCE, RECAP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8400" y="2228751"/>
            <a:ext cx="5023104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Meaningful applied AI: integrate AI into a core use case and justify it against a baseline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workshop or conference: poster, presentation or submitted abstract</a:t>
            </a:r>
            <a:endParaRPr lang="en-US" sz="1250" dirty="0"/>
          </a:p>
          <a:p>
            <a:pPr marL="342900" indent="-342900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Hackathon, competition or certification: applied learning that measurably improves the project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48400" y="3759101"/>
            <a:ext cx="50231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256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guidance only — participation alone does not guarantee Distinction or High Distinction.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073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Projects · Project 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95558" y="6238280"/>
            <a:ext cx="534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387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0" y="0"/>
            <a:ext cx="3810000" cy="381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D1C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456160"/>
            <a:ext cx="981075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Questions, or ready to confirm mentors?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12800" y="314196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your project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mentor kickoff sessions ahead of week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5203230"/>
            <a:ext cx="46172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Nguyễn Trần Minh Duy (Daniel)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5495330"/>
            <a:ext cx="4617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Experience Officer, Department of Computer Science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5734050"/>
            <a:ext cx="4617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9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minhduynguyentran@gmail.com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48875" y="5108575"/>
            <a:ext cx="1327150" cy="933450"/>
          </a:xfrm>
          <a:prstGeom prst="roundRect">
            <a:avLst>
              <a:gd name="adj" fmla="val 10544"/>
            </a:avLst>
          </a:prstGeom>
          <a:solidFill>
            <a:srgbClr val="FFFFFF"/>
          </a:solidFill>
          <a:ln w="6350">
            <a:solidFill>
              <a:srgbClr val="E2E2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10" name="Image 1" descr="Swinburne University of Technology"/>
          <p:cNvPicPr>
            <a:picLocks noChangeAspect="1"/>
          </p:cNvPicPr>
          <p:nvPr/>
        </p:nvPicPr>
        <p:blipFill>
          <a:blip r:embed="rId4"/>
          <a:srcRect l="-141" r="-141"/>
          <a:stretch/>
        </p:blipFill>
        <p:spPr>
          <a:xfrm>
            <a:off x="10236200" y="5191125"/>
            <a:ext cx="952500" cy="76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1911</Words>
  <Application>Microsoft Macintosh PowerPoint</Application>
  <PresentationFormat>Widescreen</PresentationFormat>
  <Paragraphs>296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Barlow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 – Capstone Project List, September 2026</dc:title>
  <dc:subject>PptxGenJS Presentation</dc:subject>
  <dc:creator>PptxGenJS</dc:creator>
  <cp:lastModifiedBy>Daniel Nguyen</cp:lastModifiedBy>
  <cp:revision>2</cp:revision>
  <dcterms:created xsi:type="dcterms:W3CDTF">2026-09-19T10:32:14Z</dcterms:created>
  <dcterms:modified xsi:type="dcterms:W3CDTF">2026-09-21T08:35:34Z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Internal</vt:lpwstr>
  </property>
</Properties>
</file>